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Coûts Opex</c:v>
                </c:pt>
              </c:strCache>
            </c:strRef>
          </c:tx>
          <c:spPr>
            <a:solidFill>
              <a:srgbClr val="374151"/>
            </a:solidFill>
          </c:spPr>
          <c:dPt>
            <c:idx val="0"/>
            <c:spPr>
              <a:solidFill>
                <a:srgbClr val="374151"/>
              </a:solidFill>
            </c:spPr>
          </c:dPt>
          <c:dPt>
            <c:idx val="1"/>
            <c:spPr>
              <a:solidFill>
                <a:srgbClr val="374151"/>
              </a:solidFill>
            </c:spPr>
          </c:dPt>
          <c:dPt>
            <c:idx val="2"/>
            <c:spPr>
              <a:solidFill>
                <a:srgbClr val="374151"/>
              </a:solidFill>
            </c:spPr>
          </c:dPt>
          <c:dPt>
            <c:idx val="3"/>
            <c:spPr>
              <a:solidFill>
                <a:srgbClr val="00FF7F"/>
              </a:solidFill>
            </c:spPr>
          </c:dPt>
          <c:dLbls>
            <c:dLbl>
              <c:idx val="0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8F9FA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1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8F9FA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2"/>
              <c:spPr/>
              <c:txPr>
                <a:bodyPr/>
                <a:lstStyle/>
                <a:p>
                  <a:pPr>
                    <a:defRPr sz="1600" b="1">
                      <a:solidFill>
                        <a:srgbClr val="F8F9FA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dLbl>
              <c:idx val="3"/>
              <c:spPr/>
              <c:txPr>
                <a:bodyPr/>
                <a:lstStyle/>
                <a:p>
                  <a:pPr>
                    <a:defRPr sz="2000" b="1">
                      <a:solidFill>
                        <a:srgbClr val="00FF7F"/>
                      </a:solidFill>
                      <a:latin typeface="Montserrat"/>
                    </a:defRPr>
                  </a:pPr>
                </a:p>
              </c:txPr>
              <c:dLblPos val="outEnd"/>
              <c:showLegendKey val="0"/>
              <c:showVal val="1"/>
              <c:showCatName val="0"/>
              <c:showSerName val="0"/>
              <c:showPercent val="0"/>
              <c:showBubbleSize val="0"/>
            </c:dLbl>
            <c:showLegendKey val="0"/>
            <c:showVal val="0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Sheet1!$A$2:$A$5</c:f>
              <c:strCache>
                <c:ptCount val="4"/>
                <c:pt idx="0">
                  <c:v>Q1 2025</c:v>
                </c:pt>
                <c:pt idx="1">
                  <c:v>Q2 2025</c:v>
                </c:pt>
                <c:pt idx="2">
                  <c:v>Q3 2025</c:v>
                </c:pt>
                <c:pt idx="3">
                  <c:v>Q4 2025 (Déploiement IA)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100</c:v>
                </c:pt>
                <c:pt idx="1">
                  <c:v>95</c:v>
                </c:pt>
                <c:pt idx="2">
                  <c:v>90</c:v>
                </c:pt>
                <c:pt idx="3">
                  <c:v>20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1A1D26"/>
            </a:solidFill>
          </a:ln>
        </c:spPr>
        <c:txPr>
          <a:bodyPr/>
          <a:lstStyle/>
          <a:p>
            <a:pPr>
              <a:defRPr>
                <a:solidFill>
                  <a:srgbClr val="9CA3AF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chart" Target="../charts/char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731520"/>
            <a:ext cx="73152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400">
                <a:solidFill>
                  <a:srgbClr val="9CA3AF"/>
                </a:solidFill>
                <a:latin typeface="Montserrat"/>
              </a:rPr>
              <a:t>LA PREUVE CHIFFRÉE (SO WHAT?)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097280"/>
            <a:ext cx="10515600" cy="1371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F8F9FA"/>
                </a:solidFill>
                <a:latin typeface="Clash Display"/>
              </a:rPr>
              <a:t>L'intégration agentique a fait chuter nos coûts opérationnels de 80%.</a:t>
            </a:r>
          </a:p>
        </p:txBody>
      </p:sp>
      <p:graphicFrame>
        <p:nvGraphicFramePr>
          <p:cNvPr id="4" name="Chart 3"/>
          <p:cNvGraphicFramePr>
            <a:graphicFrameLocks noGrp="1"/>
          </p:cNvGraphicFramePr>
          <p:nvPr/>
        </p:nvGraphicFramePr>
        <p:xfrm>
          <a:off x="731520" y="2286000"/>
          <a:ext cx="73152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